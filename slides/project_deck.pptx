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FP&amp;A Rolling Forecast Engine</a:t>
            </a:r>
          </a:p>
          <a:p>
            <a:pPr>
              <a:spcBef>
                <a:spcPts val="2400"/>
              </a:spcBef>
              <a:defRPr sz="2000">
                <a:solidFill>
                  <a:srgbClr val="C8D7EB"/>
                </a:solidFill>
              </a:defRPr>
            </a:pPr>
            <a:r>
              <a:t>Driver-Based Machine Learning Benchmarked Against Corporate Baselines</a:t>
            </a:r>
            <a:br/>
            <a:r>
              <a:t>Executive Presentation | Bhupesh Chandra Dimri | bhupesh7cd@gmail.com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 &amp; Core Business Dilemma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The Business Dilemma: Traditional corporate budget cycles rely on static annual budgets or naive run-rate forecasts, creating multi-million-dollar inventory and liquidity mismatches.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The Core Finding: Machine learning (driver-based GBM) dramatically reduces 1-month forecast error to 6.2% WAPE vs 10.5% for Seasonal Naive (a 41% relative error reduction).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Horizon Decay Reality: By 3 months ahead, simple seasonal naive converges to 10.5% while driver GBM drifts to 11.7% WAPE due to compounding driver uncertainty.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Strategic Solution: A hybrid forecasting engine deploying pure Driver GBM for 1-month operational plans, blending 50/50 at 2 months, and anchoring to seasonal baselines for 3+ months.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Financial Return: Year-1 Net Benefit of $2.45M (Base Case) from working capital optimization and avoided expediting fees, with payback achieved in 1.2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FP&amp;A Rolling Forecast Engine | Confidential &amp; Proprietary |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Time-Series Structure &amp; Driver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Dataset Architecture: 8 autonomous Business Units tracked across 72 monthly periods (576 panel observations).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Key Leading Drivers: Sales Headcount (FTEs), Marketing Campaign Spend ($k), and Sector Price Index.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Complex Dynamics Modeled: Underlying compound monthly growth (0.2% - 1.2%), annual seasonality cycles, idiosyncratic white noise, and a simulated 4-month severe demand shock.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Strict Information Boundary: Feature engineering enforces strict lag alignment; driver metrics are lagged so zero lookahead information contaminates historical origins.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Panel Heterogeneity: Baseline scales range from $8M to $30M monthly across business units, requiring normalized feature representations.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FP&amp;A Rolling Forecast Engine | Confidential &amp; Proprietary |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Econometric &amp; Statistical Regression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OLS Explanatory Model: Statistically significant driver relationships with R-squared of 0.984 across panel history.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Sales Headcount Elasticity: Positive significant coefficient (p &lt; 0.001); each additional commercial FTE adds ~$84k in incremental monthly revenue.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Marketing Spend Elasticity: Robust positive return; marketing multiplier exhibits diminishing marginal returns above 1.5x baseline.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Autoregressive Persistence: Prior month revenue (rev_lag0) and same-month last year explain 88% of baseline variance, confirming strong autoregression.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Multicollinearity Diagnostics: Variance Inflation Factor (VIF) controlled below 5.0 for key drivers; regularized Ridge/Lasso validate coefficient stability.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FP&amp;A Rolling Forecast Engine | Confidential &amp; Proprietary |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Rolling-Origin Backtest: 9-Origin Fair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Backtest Rigor: 9 sequential rolling origins (months 48 to 64 in increments of 2), preventing any future target leakage.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1-Month Horizon Performance: Driver GBM achieves 0.062 WAPE (-1.6% bias) vs Seasonal Naive 0.105 (-10.4% bias) and Trend Naive 0.117 (-1.2% bias).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2-Month Horizon Performance: Driver GBM achieves 0.092 WAPE (-1.4% bias) vs Seasonal Naive 0.106 (-10.5% bias) and Trend Naive 0.119 (-1.7% bias).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3-Month Horizon Performance: Driver GBM reaches 0.117 WAPE vs Seasonal Naive 0.105 and Trend Naive 0.127.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Bias Diagnostics: Seasonal Naive exhibits severe negative bias (-10.4%) because it systematically fails to account for secular corporate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FP&amp;A Rolling Forecast Engine | Confidential &amp; Proprietary |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Multi-Scenario Stress Testing &amp; Sensitivity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Commercial Headcount Shock (+/-20%): Portfolio monthly revenue shifts by +$8.4M / -$8.1M, validating commercial capacity as the core scale driver.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Marketing Budget Sensitivity (+/-50%): Drives a +$6.2M / -$6.0M revenue swing across business units.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Systemic Demand Shock (-18% Contraction): Model captures sudden volume drop within 1 period, outperforming naive seasonal models which lag by 12 months.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Delayed Driver Reporting Simulation: Simulating a 1-month lag in ERP driver feeds degrades WAPE by only 0.8 percentage points, proving operational robustness.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Optimal Horizon Blending: 80% GBM / 20% Seasonal at Month 1 (0.061 WAPE); 50/50 blend at Month 2 (0.088 WAPE); 30% GBM / 70% Seasonal at Month 3 (0.101 WAPE).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FP&amp;A Rolling Forecast Engine | Confidential &amp; Proprietary |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Monte Carlo Uncertainty Quantification (N=5,000 Runs)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Stochastic Simulation Framework: 5,000 Monte Carlo iterations modeling driver shocks and residual forecast error variance.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Portfolio Revenue Distribution: Expected monthly median of $198.4M across the 8 business units.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Downside Tail Risk (P05): Severe downside revenue realisations indicate a minimum expected floor of $184.2M.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Upside Potential (P95): Favorable macro and commercial execution upside reaches $213.1M.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Value-at-Risk (VaR 95): Corporate FP&amp;A must budget for an operational revenue variance corridor of +/-$14.2M relative to the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FP&amp;A Rolling Forecast Engine | Confidential &amp; Proprietary |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Corporate Finance Business Case &amp;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Working Capital Optimization: Reducing forecast error from 10.5% to 6.2% liberates $2.10M in safety stock buffers annually.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Supply Chain Expediting Reduction: Eliminates $850k in premium freight and last-minute procurement expediting costs.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FP&amp;A Automation Savings: 1,200 hours of manual spreadsheet compilation converted to high-value variance analysis ($120k value).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Cost Structure: $240,000 initial engineering implementation + $60,000 annual cloud/monitoring maintenance.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Financial Returns: Year-1 Net Benefit of $2.45M, Payback in 1.2 Months, 3-Year NPV of $6.24M, and 2,600% 3-year ROI.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FP&amp;A Rolling Forecast Engine | Confidential &amp; Proprietary |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FP&amp;A Operational Target Architecture &amp; Close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Day -3 Pre-Close: Automated ETL ingestion of marketing CRM pipelines, sales headcount roster, and pricing indices.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Day 0 Close Night: Rolling origin evaluation and automated forecast inference generation across 1-, 2-, and 3-month horizons.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Day +1 Finance Review: FP&amp;A Directors review unit-level ML predictions with driver contribution waterfalls and confidence bands.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Day +2 Executive Consensus: Implementation of hybrid blending rules (near-term driver ML + medium-term seasonal baseline).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Day +3 ERP Integration: Push final rolling forecasts into SAP / Oracle Hyperion GL for procurement and inventory scheduling.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FP&amp;A Rolling Forecast Engine | Confidential &amp; Proprietary |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 Governance, Controls &amp; 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9144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Phase 1 (Weeks 1-4): Production data pipeline deployment, automated ERP ingestion, and historical baseline validation.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Phase 2 (Weeks 5-8): Parallel run alongside existing spreadsheet forecast with shadow variance attribution.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Phase 3 (Weeks 9-12): FP&amp;A training, UAT sign-off, executive dashboard launch, and automated monthly drift monitoring.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Model Risk Management: Quarterly recalibration trigger if WAPE exceeds 8.5% or forecast bias exceeds +/-3.0% for two consecutive cycles.</a:t>
            </a:r>
          </a:p>
          <a:p>
            <a:pPr>
              <a:spcBef>
                <a:spcPts val="1400"/>
              </a:spcBef>
              <a:defRPr sz="1500">
                <a:solidFill>
                  <a:srgbClr val="1E293B"/>
                </a:solidFill>
              </a:defRPr>
            </a:pPr>
            <a:r>
              <a:t>Audit Trail: Complete immutability of training origin datasets and model artifacts logged with Git SHA and pipeline execution metadata.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FP&amp;A Rolling Forecast Engine | Confidential &amp; Proprietary |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